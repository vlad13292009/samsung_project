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8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6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8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54880" y="2203560"/>
            <a:ext cx="8825040" cy="246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ru-RU" sz="5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1154880" y="4979880"/>
            <a:ext cx="8825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735620-6425-48C2-A0A4-C8ACA75B59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54880" y="2203560"/>
            <a:ext cx="8825040" cy="246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ru-RU" sz="5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154880" y="5070600"/>
            <a:ext cx="88250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7A349E-B5CF-4EBF-AB43-E6770D83AF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7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8825040" cy="341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4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5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6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111432B4-0CB8-4A54-9360-DAA466619C68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43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3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54" name="Rectangle 13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Oval 16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Oval 17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Oval 18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Oval 19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Oval 20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Rectangle 9"/>
            <p:cNvSpPr/>
            <p:nvPr/>
          </p:nvSpPr>
          <p:spPr>
            <a:xfrm>
              <a:off x="7289640" y="402120"/>
              <a:ext cx="4478040" cy="605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 5"/>
            <p:cNvSpPr/>
            <p:nvPr/>
          </p:nvSpPr>
          <p:spPr>
            <a:xfrm rot="16200000">
              <a:off x="3787200" y="2802240"/>
              <a:ext cx="6053040" cy="1253880"/>
            </a:xfrm>
            <a:custGeom>
              <a:avLst/>
              <a:gdLst>
                <a:gd name="textAreaLeft" fmla="*/ 0 w 6053040"/>
                <a:gd name="textAreaRight" fmla="*/ 6053760 w 6053040"/>
                <a:gd name="textAreaTop" fmla="*/ 0 h 1253880"/>
                <a:gd name="textAreaBottom" fmla="*/ 1254600 h 125388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eform 5"/>
            <p:cNvSpPr/>
            <p:nvPr/>
          </p:nvSpPr>
          <p:spPr>
            <a:xfrm rot="15922200">
              <a:off x="4698360" y="182628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54880" y="2677680"/>
            <a:ext cx="4350240" cy="22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95440" y="2677680"/>
            <a:ext cx="3756960" cy="22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 cap="all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 cap="all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000" b="0" u="none" strike="noStrike" cap="all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7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8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Rectangle 15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9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4CA6E486-C455-4C42-B184-135869E74BBE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71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4824360" cy="341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08560" y="2603520"/>
            <a:ext cx="4824360" cy="341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10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11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12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5D5B4B52-8D4A-4CF2-B530-852D7687B362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88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48243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1154880" y="3179880"/>
            <a:ext cx="4824360" cy="283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208560" y="2603520"/>
            <a:ext cx="48243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6208560" y="3179880"/>
            <a:ext cx="4824360" cy="283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dt" idx="13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7"/>
          <p:cNvSpPr>
            <a:spLocks noGrp="1"/>
          </p:cNvSpPr>
          <p:nvPr>
            <p:ph type="ftr" idx="14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8"/>
          <p:cNvSpPr>
            <a:spLocks noGrp="1"/>
          </p:cNvSpPr>
          <p:nvPr>
            <p:ph type="sldNum" idx="15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657567D5-D511-40F9-8E64-41DDEDE8D3FB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07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dt" idx="16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17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18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49AEB9B8-33B6-497D-BAE1-A0218CA6E8C3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22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dt" idx="19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0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Rectangle 6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21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0320E89A-B27A-4968-9B14-C9E63D214C44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37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7" name="Group 8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48" name="Rectangle 13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Oval 16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Oval 18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Oval 19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Oval 20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Oval 21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10"/>
            <p:cNvSpPr/>
            <p:nvPr/>
          </p:nvSpPr>
          <p:spPr>
            <a:xfrm>
              <a:off x="5713560" y="402120"/>
              <a:ext cx="6054480" cy="605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5"/>
            <p:cNvSpPr/>
            <p:nvPr/>
          </p:nvSpPr>
          <p:spPr>
            <a:xfrm rot="15922200">
              <a:off x="3140280" y="182628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5"/>
            <p:cNvSpPr/>
            <p:nvPr/>
          </p:nvSpPr>
          <p:spPr>
            <a:xfrm rot="16200000">
              <a:off x="2229120" y="2802240"/>
              <a:ext cx="6053040" cy="1253880"/>
            </a:xfrm>
            <a:custGeom>
              <a:avLst/>
              <a:gdLst>
                <a:gd name="textAreaLeft" fmla="*/ 0 w 6053040"/>
                <a:gd name="textAreaRight" fmla="*/ 6053760 w 6053040"/>
                <a:gd name="textAreaTop" fmla="*/ 0 h 1253880"/>
                <a:gd name="textAreaBottom" fmla="*/ 1254600 h 125388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54880" y="1295280"/>
            <a:ext cx="279252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781240" y="1447920"/>
            <a:ext cx="518940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1154880" y="3129120"/>
            <a:ext cx="2792520" cy="289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22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23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Rectangle 15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sldNum" idx="24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70C2F084-3FA7-4F67-B4C6-FD1F8F9AD599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66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5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6" name="Group 8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77" name="Rectangle 13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Oval 16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Oval 17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Oval 18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Oval 19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Oval 20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Rectangle 10"/>
            <p:cNvSpPr/>
            <p:nvPr/>
          </p:nvSpPr>
          <p:spPr>
            <a:xfrm>
              <a:off x="6172200" y="402120"/>
              <a:ext cx="5595840" cy="605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eform 5"/>
            <p:cNvSpPr/>
            <p:nvPr/>
          </p:nvSpPr>
          <p:spPr>
            <a:xfrm rot="15922200">
              <a:off x="4203360" y="182628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eform 5"/>
            <p:cNvSpPr/>
            <p:nvPr/>
          </p:nvSpPr>
          <p:spPr>
            <a:xfrm rot="16200000">
              <a:off x="3295080" y="2802240"/>
              <a:ext cx="6053040" cy="1253880"/>
            </a:xfrm>
            <a:custGeom>
              <a:avLst/>
              <a:gdLst>
                <a:gd name="textAreaLeft" fmla="*/ 0 w 6053040"/>
                <a:gd name="textAreaRight" fmla="*/ 6053760 w 6053040"/>
                <a:gd name="textAreaTop" fmla="*/ 0 h 1253880"/>
                <a:gd name="textAreaBottom" fmla="*/ 1254600 h 125388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154880" y="1693440"/>
            <a:ext cx="3864240" cy="17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548040" y="1143000"/>
            <a:ext cx="3226320" cy="457128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Вставка рисунка</a:t>
            </a:r>
            <a:endParaRPr lang="ru-RU" sz="16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1154880" y="3657600"/>
            <a:ext cx="385848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dt" idx="25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ftr" idx="26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Rectangle 15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27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B6135682-BFAE-442A-B4E1-339E5E909D42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анорамная фотография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95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5" name="Group 8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06" name="Rectangle 12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Oval 16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Oval 17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Oval 18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Oval 19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Oval 20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5"/>
            <p:cNvSpPr/>
            <p:nvPr/>
          </p:nvSpPr>
          <p:spPr>
            <a:xfrm rot="10371600">
              <a:off x="264240" y="443880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5"/>
            <p:cNvSpPr/>
            <p:nvPr/>
          </p:nvSpPr>
          <p:spPr>
            <a:xfrm rot="10800000">
              <a:off x="460080" y="32112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154880" y="4969800"/>
            <a:ext cx="882504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2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1154880" y="685800"/>
            <a:ext cx="8825040" cy="342828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Вставка рисунка</a:t>
            </a:r>
            <a:endParaRPr lang="ru-RU" sz="16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1154880" y="5536800"/>
            <a:ext cx="8825040" cy="49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2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2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dt" idx="28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ftr" idx="29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Rectangle 15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 type="sldNum" idx="30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9DBF9FED-9F90-4023-8782-EF21A5E614DE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23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2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3" name="Group 6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34" name="Rectangle 10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Oval 13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Oval 15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Oval 17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Oval 18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Freeform 5"/>
            <p:cNvSpPr/>
            <p:nvPr/>
          </p:nvSpPr>
          <p:spPr>
            <a:xfrm rot="21010200">
              <a:off x="8490960" y="271440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Freeform 5"/>
            <p:cNvSpPr/>
            <p:nvPr/>
          </p:nvSpPr>
          <p:spPr>
            <a:xfrm>
              <a:off x="455760" y="2801160"/>
              <a:ext cx="11277000" cy="360180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3601800"/>
                <a:gd name="textAreaBottom" fmla="*/ 3602520 h 3601800"/>
              </a:gdLst>
              <a:ahLst/>
              <a:cxnLst/>
              <a:rect l="textAreaLeft" t="textAreaTop" r="textAreaRight" b="textAreaBottom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148760" y="1063440"/>
            <a:ext cx="8831160" cy="137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1154880" y="3543480"/>
            <a:ext cx="8825040" cy="247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31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ftr" idx="32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Rectangle 12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33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641CABE-6412-4C5B-80FF-810262E39F0D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50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9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oup 2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61" name="Rectangle 1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Oval 19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Oval 21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Oval 22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Oval 23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Oval 24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Freeform 5"/>
            <p:cNvSpPr/>
            <p:nvPr/>
          </p:nvSpPr>
          <p:spPr>
            <a:xfrm rot="21010200">
              <a:off x="8490960" y="418464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Freeform 5"/>
            <p:cNvSpPr/>
            <p:nvPr/>
          </p:nvSpPr>
          <p:spPr>
            <a:xfrm>
              <a:off x="455760" y="4241880"/>
              <a:ext cx="11277000" cy="233640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2336400"/>
                <a:gd name="textAreaBottom" fmla="*/ 2337120 h 233640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0" name="TextBox 15"/>
          <p:cNvSpPr/>
          <p:nvPr/>
        </p:nvSpPr>
        <p:spPr>
          <a:xfrm>
            <a:off x="881640" y="607320"/>
            <a:ext cx="801360" cy="15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«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2"/>
          <p:cNvSpPr/>
          <p:nvPr/>
        </p:nvSpPr>
        <p:spPr>
          <a:xfrm>
            <a:off x="9884520" y="2613960"/>
            <a:ext cx="651960" cy="15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«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581840" y="982080"/>
            <a:ext cx="8453160" cy="269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1945800" y="3678840"/>
            <a:ext cx="7730640" cy="34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 cap="small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 cap="small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1154880" y="5029200"/>
            <a:ext cx="9244080" cy="99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dt" idx="34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ftr" idx="35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Rectangle 18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sldNum" idx="36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C937CC5F-305E-470C-BD27-1532F89E4A3F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80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9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0" name="Group 8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291" name="Rectangle 10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Oval 14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Oval 15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Oval 16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Oval 17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Oval 18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eform 5"/>
            <p:cNvSpPr/>
            <p:nvPr/>
          </p:nvSpPr>
          <p:spPr>
            <a:xfrm rot="21010200">
              <a:off x="8490960" y="41929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eform 5"/>
            <p:cNvSpPr/>
            <p:nvPr/>
          </p:nvSpPr>
          <p:spPr>
            <a:xfrm>
              <a:off x="455760" y="4241880"/>
              <a:ext cx="11277000" cy="233640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2336400"/>
                <a:gd name="textAreaBottom" fmla="*/ 2337120 h 233640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154880" y="2370600"/>
            <a:ext cx="8825040" cy="182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40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1154880" y="5024880"/>
            <a:ext cx="882504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000" b="0" u="none" strike="noStrike">
              <a:solidFill>
                <a:schemeClr val="accent1">
                  <a:lumMod val="60000"/>
                  <a:lumOff val="40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dt" idx="37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4"/>
          <p:cNvSpPr>
            <a:spLocks noGrp="1"/>
          </p:cNvSpPr>
          <p:nvPr>
            <p:ph type="ftr" idx="38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sldNum" idx="39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D74507D-BF37-411B-B439-A740C4E21E8C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07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6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82504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3141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154880" y="3179880"/>
            <a:ext cx="3141000" cy="284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body"/>
          </p:nvPr>
        </p:nvSpPr>
        <p:spPr>
          <a:xfrm>
            <a:off x="4512600" y="2603520"/>
            <a:ext cx="31464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 type="body"/>
          </p:nvPr>
        </p:nvSpPr>
        <p:spPr>
          <a:xfrm>
            <a:off x="4512600" y="3179880"/>
            <a:ext cx="3146400" cy="284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 type="body"/>
          </p:nvPr>
        </p:nvSpPr>
        <p:spPr>
          <a:xfrm>
            <a:off x="7887960" y="2603520"/>
            <a:ext cx="31449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 type="body"/>
          </p:nvPr>
        </p:nvSpPr>
        <p:spPr>
          <a:xfrm>
            <a:off x="7888320" y="3179880"/>
            <a:ext cx="3144960" cy="284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cxnSp>
        <p:nvCxnSpPr>
          <p:cNvPr id="324" name="Straight Connector 16"/>
          <p:cNvCxnSpPr/>
          <p:nvPr/>
        </p:nvCxnSpPr>
        <p:spPr>
          <a:xfrm>
            <a:off x="4403880" y="2569320"/>
            <a:ext cx="720" cy="3493440"/>
          </a:xfrm>
          <a:prstGeom prst="straightConnector1">
            <a:avLst/>
          </a:prstGeom>
          <a:ln cap="rnd" w="12700">
            <a:solidFill>
              <a:schemeClr val="accent1">
                <a:alpha val="40000"/>
              </a:schemeClr>
            </a:solidFill>
            <a:round/>
          </a:ln>
        </p:spPr>
      </p:cxnSp>
      <p:cxnSp>
        <p:nvCxnSpPr>
          <p:cNvPr id="325" name="Straight Connector 17"/>
          <p:cNvCxnSpPr/>
          <p:nvPr/>
        </p:nvCxnSpPr>
        <p:spPr>
          <a:xfrm>
            <a:off x="7772400" y="2569320"/>
            <a:ext cx="720" cy="3493440"/>
          </a:xfrm>
          <a:prstGeom prst="straightConnector1">
            <a:avLst/>
          </a:prstGeom>
          <a:ln cap="rnd" w="12700">
            <a:solidFill>
              <a:schemeClr val="accent1">
                <a:alpha val="40000"/>
              </a:schemeClr>
            </a:solidFill>
            <a:round/>
          </a:ln>
        </p:spPr>
      </p:cxnSp>
      <p:sp>
        <p:nvSpPr>
          <p:cNvPr id="326" name="PlaceHolder 8"/>
          <p:cNvSpPr>
            <a:spLocks noGrp="1"/>
          </p:cNvSpPr>
          <p:nvPr>
            <p:ph type="dt" idx="40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9"/>
          <p:cNvSpPr>
            <a:spLocks noGrp="1"/>
          </p:cNvSpPr>
          <p:nvPr>
            <p:ph type="ftr" idx="41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10"/>
          <p:cNvSpPr>
            <a:spLocks noGrp="1"/>
          </p:cNvSpPr>
          <p:nvPr>
            <p:ph type="sldNum" idx="42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EC8B861F-63E6-481A-A381-4E67F8E543D8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олбец с тремя рисункам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30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9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82504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1154880" y="4532760"/>
            <a:ext cx="30495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1334520" y="2603520"/>
            <a:ext cx="2690640" cy="15908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Вставка рисунка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1154880" y="5109120"/>
            <a:ext cx="3049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body"/>
          </p:nvPr>
        </p:nvSpPr>
        <p:spPr>
          <a:xfrm>
            <a:off x="4568760" y="4532760"/>
            <a:ext cx="304956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body"/>
          </p:nvPr>
        </p:nvSpPr>
        <p:spPr>
          <a:xfrm>
            <a:off x="4748400" y="2603520"/>
            <a:ext cx="2690640" cy="15908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Вставка рисунка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6" name="PlaceHolder 7"/>
          <p:cNvSpPr>
            <a:spLocks noGrp="1"/>
          </p:cNvSpPr>
          <p:nvPr>
            <p:ph type="body"/>
          </p:nvPr>
        </p:nvSpPr>
        <p:spPr>
          <a:xfrm>
            <a:off x="4570200" y="5109120"/>
            <a:ext cx="3049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7" name="PlaceHolder 8"/>
          <p:cNvSpPr>
            <a:spLocks noGrp="1"/>
          </p:cNvSpPr>
          <p:nvPr>
            <p:ph type="body"/>
          </p:nvPr>
        </p:nvSpPr>
        <p:spPr>
          <a:xfrm>
            <a:off x="7982640" y="4532760"/>
            <a:ext cx="30502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8" name="PlaceHolder 9"/>
          <p:cNvSpPr>
            <a:spLocks noGrp="1"/>
          </p:cNvSpPr>
          <p:nvPr>
            <p:ph type="body"/>
          </p:nvPr>
        </p:nvSpPr>
        <p:spPr>
          <a:xfrm>
            <a:off x="8163000" y="2603520"/>
            <a:ext cx="2690640" cy="15908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Вставка рисунка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49" name="PlaceHolder 10"/>
          <p:cNvSpPr>
            <a:spLocks noGrp="1"/>
          </p:cNvSpPr>
          <p:nvPr>
            <p:ph type="body"/>
          </p:nvPr>
        </p:nvSpPr>
        <p:spPr>
          <a:xfrm>
            <a:off x="7982640" y="5109120"/>
            <a:ext cx="305028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cxnSp>
        <p:nvCxnSpPr>
          <p:cNvPr id="350" name="Straight Connector 42"/>
          <p:cNvCxnSpPr/>
          <p:nvPr/>
        </p:nvCxnSpPr>
        <p:spPr>
          <a:xfrm>
            <a:off x="4405680" y="2569320"/>
            <a:ext cx="720" cy="3493440"/>
          </a:xfrm>
          <a:prstGeom prst="straightConnector1">
            <a:avLst/>
          </a:prstGeom>
          <a:ln cap="rnd" w="12700">
            <a:solidFill>
              <a:schemeClr val="accent1">
                <a:alpha val="40000"/>
              </a:schemeClr>
            </a:solidFill>
            <a:round/>
          </a:ln>
        </p:spPr>
      </p:cxnSp>
      <p:cxnSp>
        <p:nvCxnSpPr>
          <p:cNvPr id="351" name="Straight Connector 43"/>
          <p:cNvCxnSpPr/>
          <p:nvPr/>
        </p:nvCxnSpPr>
        <p:spPr>
          <a:xfrm>
            <a:off x="7797600" y="2569320"/>
            <a:ext cx="720" cy="3493440"/>
          </a:xfrm>
          <a:prstGeom prst="straightConnector1">
            <a:avLst/>
          </a:prstGeom>
          <a:ln cap="rnd" w="12700">
            <a:solidFill>
              <a:schemeClr val="accent1">
                <a:alpha val="40000"/>
              </a:schemeClr>
            </a:solidFill>
            <a:round/>
          </a:ln>
        </p:spPr>
      </p:cxnSp>
      <p:sp>
        <p:nvSpPr>
          <p:cNvPr id="352" name="PlaceHolder 11"/>
          <p:cNvSpPr>
            <a:spLocks noGrp="1"/>
          </p:cNvSpPr>
          <p:nvPr>
            <p:ph type="dt" idx="43"/>
          </p:nvPr>
        </p:nvSpPr>
        <p:spPr>
          <a:xfrm>
            <a:off x="1065312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12"/>
          <p:cNvSpPr>
            <a:spLocks noGrp="1"/>
          </p:cNvSpPr>
          <p:nvPr>
            <p:ph type="ftr" idx="44"/>
          </p:nvPr>
        </p:nvSpPr>
        <p:spPr>
          <a:xfrm>
            <a:off x="561240" y="6391800"/>
            <a:ext cx="364356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PlaceHolder 13"/>
          <p:cNvSpPr>
            <a:spLocks noGrp="1"/>
          </p:cNvSpPr>
          <p:nvPr>
            <p:ph type="sldNum" idx="45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D2BD3319-8C78-4DC3-B828-AD81B75EAEEA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56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5" name="Rectangle 2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82504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8825040" cy="341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dt" idx="46"/>
          </p:nvPr>
        </p:nvSpPr>
        <p:spPr>
          <a:xfrm>
            <a:off x="10695600" y="639180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ftr" idx="47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sldNum" idx="48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77FF1C84-AC47-4FFA-9655-A70515663586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72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1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oup 8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83" name="Rectangle 11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Oval 14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Oval 15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Oval 18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Oval 19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ectangle 6"/>
            <p:cNvSpPr/>
            <p:nvPr/>
          </p:nvSpPr>
          <p:spPr>
            <a:xfrm>
              <a:off x="414720" y="402120"/>
              <a:ext cx="6510240" cy="6053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 5"/>
            <p:cNvSpPr/>
            <p:nvPr/>
          </p:nvSpPr>
          <p:spPr>
            <a:xfrm rot="5101800">
              <a:off x="6295320" y="457704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eform 5"/>
            <p:cNvSpPr/>
            <p:nvPr/>
          </p:nvSpPr>
          <p:spPr>
            <a:xfrm rot="5400000">
              <a:off x="4449600" y="2801520"/>
              <a:ext cx="6053040" cy="1253880"/>
            </a:xfrm>
            <a:custGeom>
              <a:avLst/>
              <a:gdLst>
                <a:gd name="textAreaLeft" fmla="*/ 0 w 6053040"/>
                <a:gd name="textAreaRight" fmla="*/ 6053760 w 6053040"/>
                <a:gd name="textAreaTop" fmla="*/ 0 h 1253880"/>
                <a:gd name="textAreaBottom" fmla="*/ 1254600 h 1253880"/>
              </a:gdLst>
              <a:ahLst/>
              <a:cxnLst/>
              <a:rect l="textAreaLeft" t="textAreaTop" r="textAreaRight" b="textAreaBottom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8585280" y="1278360"/>
            <a:ext cx="1409400" cy="474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1154880" y="1278360"/>
            <a:ext cx="6255360" cy="474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dt" idx="49"/>
          </p:nvPr>
        </p:nvSpPr>
        <p:spPr>
          <a:xfrm>
            <a:off x="10653120" y="6391800"/>
            <a:ext cx="99144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ftr" idx="50"/>
          </p:nvPr>
        </p:nvSpPr>
        <p:spPr>
          <a:xfrm>
            <a:off x="561240" y="639180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Rectangle 13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 type="sldNum" idx="51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9403C0F-EAB6-44A5-8E84-E63EDC446F3F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154880" y="2203560"/>
            <a:ext cx="8825040" cy="246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  <a:tabLst>
                <a:tab pos="0" algn="l"/>
              </a:tabLst>
            </a:pPr>
            <a:endParaRPr lang="ru-RU" sz="5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1154880" y="5070600"/>
            <a:ext cx="88250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3AAB7B0D-FD3C-4393-B8CD-152C49B01E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3" name="Rectangle 6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Oval 12"/>
            <p:cNvSpPr/>
            <p:nvPr/>
          </p:nvSpPr>
          <p:spPr>
            <a:xfrm>
              <a:off x="0" y="2666880"/>
              <a:ext cx="4190400" cy="41904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Oval 14"/>
            <p:cNvSpPr/>
            <p:nvPr/>
          </p:nvSpPr>
          <p:spPr>
            <a:xfrm>
              <a:off x="0" y="2895480"/>
              <a:ext cx="2361600" cy="23616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Oval 17"/>
            <p:cNvSpPr/>
            <p:nvPr/>
          </p:nvSpPr>
          <p:spPr>
            <a:xfrm>
              <a:off x="8609040" y="5867280"/>
              <a:ext cx="990000" cy="9900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Oval 15"/>
            <p:cNvSpPr/>
            <p:nvPr/>
          </p:nvSpPr>
          <p:spPr>
            <a:xfrm>
              <a:off x="8609040" y="1676520"/>
              <a:ext cx="2818800" cy="281880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Oval 16"/>
            <p:cNvSpPr/>
            <p:nvPr/>
          </p:nvSpPr>
          <p:spPr>
            <a:xfrm>
              <a:off x="7999560" y="8640"/>
              <a:ext cx="1599480" cy="159948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5"/>
            <p:cNvSpPr/>
            <p:nvPr/>
          </p:nvSpPr>
          <p:spPr>
            <a:xfrm rot="21010200">
              <a:off x="8490960" y="1797120"/>
              <a:ext cx="3298680" cy="440280"/>
            </a:xfrm>
            <a:custGeom>
              <a:avLst/>
              <a:gdLst>
                <a:gd name="textAreaLeft" fmla="*/ 0 w 3298680"/>
                <a:gd name="textAreaRight" fmla="*/ 3299400 w 3298680"/>
                <a:gd name="textAreaTop" fmla="*/ 0 h 440280"/>
                <a:gd name="textAreaBottom" fmla="*/ 441000 h 44028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5"/>
            <p:cNvSpPr/>
            <p:nvPr/>
          </p:nvSpPr>
          <p:spPr>
            <a:xfrm>
              <a:off x="459360" y="1866240"/>
              <a:ext cx="11277000" cy="4533120"/>
            </a:xfrm>
            <a:custGeom>
              <a:avLst/>
              <a:gdLst>
                <a:gd name="textAreaLeft" fmla="*/ 0 w 11277000"/>
                <a:gd name="textAreaRight" fmla="*/ 11277720 w 11277000"/>
                <a:gd name="textAreaTop" fmla="*/ 0 h 4533120"/>
                <a:gd name="textAreaBottom" fmla="*/ 4533840 h 453312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" name="Rectangle 20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" name="Group 6"/>
          <p:cNvGrpSpPr/>
          <p:nvPr/>
        </p:nvGrpSpPr>
        <p:grpSpPr>
          <a:xfrm>
            <a:off x="0" y="0"/>
            <a:ext cx="12191400" cy="6857280"/>
            <a:chOff x="0" y="0"/>
            <a:chExt cx="12191400" cy="6857280"/>
          </a:xfrm>
        </p:grpSpPr>
        <p:sp>
          <p:nvSpPr>
            <p:cNvPr id="14" name="Rectangle 8"/>
            <p:cNvSpPr/>
            <p:nvPr/>
          </p:nvSpPr>
          <p:spPr>
            <a:xfrm>
              <a:off x="0" y="0"/>
              <a:ext cx="12191400" cy="68572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Freeform 5"/>
            <p:cNvSpPr/>
            <p:nvPr/>
          </p:nvSpPr>
          <p:spPr>
            <a:xfrm>
              <a:off x="0" y="1440"/>
              <a:ext cx="12191400" cy="6855840"/>
            </a:xfrm>
            <a:custGeom>
              <a:avLst/>
              <a:gdLst>
                <a:gd name="textAreaLeft" fmla="*/ 0 w 12191400"/>
                <a:gd name="textAreaRight" fmla="*/ 12192120 w 12191400"/>
                <a:gd name="textAreaTop" fmla="*/ 0 h 6855840"/>
                <a:gd name="textAreaBottom" fmla="*/ 6856560 h 685584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Rectangle 10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54880" y="2203560"/>
            <a:ext cx="8825040" cy="246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457200">
              <a:buNone/>
              <a:tabLst>
                <a:tab pos="0" algn="l"/>
              </a:tabLst>
              <a:defRPr lang="ru-RU" sz="54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buNone/>
              <a:tabLst>
                <a:tab pos="0" algn="l"/>
              </a:tabLst>
            </a:pPr>
            <a:r>
              <a:rPr lang="ru-RU" sz="54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Для правки текста заглавия щёлкните мышью</a:t>
            </a:r>
            <a:endParaRPr lang="ru-RU" sz="5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"/>
          </p:nvPr>
        </p:nvSpPr>
        <p:spPr>
          <a:xfrm rot="5400000">
            <a:off x="8952480" y="322776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2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D038A8CA-BEBC-4BE0-BF0C-C5D662A7C2D3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3"/>
          </p:nvPr>
        </p:nvSpPr>
        <p:spPr>
          <a:xfrm rot="5400000">
            <a:off x="10159560" y="179208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7pPr>
          </a:lstStyle>
          <a:p>
            <a:pPr indent="-324000" algn="l" defTabSz="457200"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 структуры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 структуры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Четвёртый уровень структуры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 структуры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Шестой уровень структуры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Седьмой уровень структуры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roup 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00" name="Rectangle 6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Oval 12"/>
            <p:cNvSpPr/>
            <p:nvPr/>
          </p:nvSpPr>
          <p:spPr>
            <a:xfrm>
              <a:off x="0" y="2666880"/>
              <a:ext cx="4190760" cy="41907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1000"/>
                  </a:srgbClr>
                </a:gs>
                <a:gs pos="36000">
                  <a:srgbClr val="9B6BF2">
                    <a:alpha val="10000"/>
                  </a:srgbClr>
                </a:gs>
                <a:gs pos="75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Oval 14"/>
            <p:cNvSpPr/>
            <p:nvPr/>
          </p:nvSpPr>
          <p:spPr>
            <a:xfrm>
              <a:off x="0" y="2895480"/>
              <a:ext cx="2361960" cy="23619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8000"/>
                  </a:srgbClr>
                </a:gs>
                <a:gs pos="36000">
                  <a:srgbClr val="9B6BF2">
                    <a:alpha val="8000"/>
                  </a:srgbClr>
                </a:gs>
                <a:gs pos="72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Oval 17"/>
            <p:cNvSpPr/>
            <p:nvPr/>
          </p:nvSpPr>
          <p:spPr>
            <a:xfrm>
              <a:off x="8609040" y="5867280"/>
              <a:ext cx="990360" cy="9903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66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Oval 15"/>
            <p:cNvSpPr/>
            <p:nvPr/>
          </p:nvSpPr>
          <p:spPr>
            <a:xfrm>
              <a:off x="8609040" y="1676520"/>
              <a:ext cx="2819160" cy="281916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7000"/>
                  </a:srgbClr>
                </a:gs>
                <a:gs pos="36000">
                  <a:srgbClr val="9B6BF2">
                    <a:alpha val="6000"/>
                  </a:srgbClr>
                </a:gs>
                <a:gs pos="69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Oval 16"/>
            <p:cNvSpPr/>
            <p:nvPr/>
          </p:nvSpPr>
          <p:spPr>
            <a:xfrm>
              <a:off x="7999560" y="8640"/>
              <a:ext cx="1599840" cy="1599840"/>
            </a:xfrm>
            <a:prstGeom prst="ellipse">
              <a:avLst/>
            </a:prstGeom>
            <a:gradFill rotWithShape="0">
              <a:gsLst>
                <a:gs pos="0">
                  <a:srgbClr val="9B6BF2">
                    <a:alpha val="14000"/>
                  </a:srgbClr>
                </a:gs>
                <a:gs pos="36000">
                  <a:srgbClr val="9B6BF2">
                    <a:alpha val="7000"/>
                  </a:srgbClr>
                </a:gs>
                <a:gs pos="73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38160" dir="5400000" dist="2556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eform 5"/>
            <p:cNvSpPr/>
            <p:nvPr/>
          </p:nvSpPr>
          <p:spPr>
            <a:xfrm rot="21010200">
              <a:off x="8490960" y="1797480"/>
              <a:ext cx="3299040" cy="440640"/>
            </a:xfrm>
            <a:custGeom>
              <a:avLst/>
              <a:gdLst>
                <a:gd name="textAreaLeft" fmla="*/ 0 w 3299040"/>
                <a:gd name="textAreaRight" fmla="*/ 3299400 w 3299040"/>
                <a:gd name="textAreaTop" fmla="*/ 0 h 440640"/>
                <a:gd name="textAreaBottom" fmla="*/ 441000 h 440640"/>
              </a:gdLst>
              <a:ahLst/>
              <a:cxnLst/>
              <a:rect l="textAreaLeft" t="textAreaTop" r="textAreaRight" b="textAreaBottom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Freeform 5"/>
            <p:cNvSpPr/>
            <p:nvPr/>
          </p:nvSpPr>
          <p:spPr>
            <a:xfrm>
              <a:off x="459360" y="1866240"/>
              <a:ext cx="11277360" cy="4533480"/>
            </a:xfrm>
            <a:custGeom>
              <a:avLst/>
              <a:gdLst>
                <a:gd name="textAreaLeft" fmla="*/ 0 w 11277360"/>
                <a:gd name="textAreaRight" fmla="*/ 11277720 w 11277360"/>
                <a:gd name="textAreaTop" fmla="*/ 0 h 4533480"/>
                <a:gd name="textAreaBottom" fmla="*/ 4533840 h 4533480"/>
              </a:gdLst>
              <a:ahLst/>
              <a:cxnLst/>
              <a:rect l="textAreaLeft" t="textAreaTop" r="textAreaRight" b="textAreaBottom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Freeform 5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6200"/>
                <a:gd name="textAreaBottom" fmla="*/ 6856560 h 6856200"/>
              </a:gdLst>
              <a:ahLst/>
              <a:cxnLst/>
              <a:rect l="textAreaLeft" t="textAreaTop" r="textAreaRight" b="textAreaBottom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9" name="Rectangle 20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entury Gothic"/>
              </a:rPr>
              <a:t>Образец заголовка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1154880" y="2603520"/>
            <a:ext cx="88254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Образец текста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Второй уровень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Третий уровень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Четвертый уровень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Пятый уровень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dt" idx="52"/>
          </p:nvPr>
        </p:nvSpPr>
        <p:spPr>
          <a:xfrm>
            <a:off x="10653120" y="639180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00" b="1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&lt;дата/время&gt;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ftr" idx="53"/>
          </p:nvPr>
        </p:nvSpPr>
        <p:spPr>
          <a:xfrm>
            <a:off x="561240" y="639180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sldNum" idx="54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1AC2F4C-828B-4BC0-8DB1-6876EC65DED8}" type="slidenum"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&lt;номер&gt;</a:t>
            </a:fld>
            <a:endParaRPr lang="ru-RU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://www.myinstants.com/" TargetMode="Externa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1154880" y="1203840"/>
            <a:ext cx="9001440" cy="473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Тема проекта</a:t>
            </a:r>
            <a:r>
              <a:rPr lang="ru-RU" sz="28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: Цифровой питомец для интерактивного обучения математике с использованием заданий с сайта </a:t>
            </a:r>
            <a:r>
              <a:rPr lang="en-US" sz="28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ru-RU" sz="28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Решу ОГЭ»</a:t>
            </a:r>
            <a:br>
              <a:rPr sz="2800"/>
            </a:br>
            <a:r>
              <a:rPr lang="ru-RU" sz="2800" b="1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Курс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: Разработка мобильных приложений на Java</a:t>
            </a:r>
            <a:br>
              <a:rPr sz="2800"/>
            </a:b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Автор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Ученик 10 «Т» ГБОУ школа № 1329</a:t>
            </a:r>
            <a:br>
              <a:rPr sz="2800"/>
            </a:b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Кузнецов Владислав Алексеевич</a:t>
            </a:r>
            <a:br>
              <a:rPr sz="2800"/>
            </a:b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Руководитель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: Педагог 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Митяков Евгений Сергеевич</a:t>
            </a:r>
            <a:endParaRPr lang="ru-RU" sz="28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Проблематика и цели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1154880" y="2594520"/>
            <a:ext cx="10036440" cy="392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Проблематика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Подготовка к ОГЭ требует регулярной практики и усвоения материала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Ученики теряют мотивацию при монотонных занятиях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Цели: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Повысить эффективность подготовки к ОГЭ через геймификацию учебного процесса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Мотивировать учеников систематически тренироваться в решении заданий по математике с сайта «Решу ОГЭ»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Идея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1154880" y="2155320"/>
            <a:ext cx="8628840" cy="47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5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Идея проекта состоит в создании цифрового интерактивного питомца, который будет мотивировать учеников к регулярной практике решения задач по математике через геймификацию. Ученики получают задания с сайта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Решу ОГЭ» и вводят свои ответы в приложении. При каждом правильном ответе питомец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кормится» — его состояние улучшается, он становится счастливее и развивается. При неправильном ответе питомец не получает корм, а ученик знакомится с правильным решением.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 3" charset="2"/>
              <a:buChar char="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Также можно ввести дополнительные игровые элементы: накопление очков, уровней и наград за серию правильных ответов, что стимулирует ученика постоянно развиваться.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422" name=""/>
          <p:cNvPicPr/>
          <p:nvPr/>
        </p:nvPicPr>
        <p:blipFill>
          <a:blip r:embed="rId1"/>
          <a:stretch/>
        </p:blipFill>
        <p:spPr>
          <a:xfrm>
            <a:off x="9706680" y="2340360"/>
            <a:ext cx="1993320" cy="43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Задачи</a:t>
            </a:r>
            <a:r>
              <a:rPr lang="en-US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1154880" y="2612520"/>
            <a:ext cx="9634320" cy="31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Создать интерактивного цифрового питомца, которого нужно кормить правильными ответами на задачи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Разработать игровую механику, интегрированную с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sdamgia.ru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Обеспечить проверку правильности ответов и обратную связь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Организовать систему накопления очков или наград для повышения мотивации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Провести тестирование разработанного приложения и внести корректировки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Этапы</a:t>
            </a:r>
            <a:r>
              <a:rPr lang="en-US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1154880" y="2581920"/>
            <a:ext cx="8911800" cy="336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Анализ API и возможностей интеграции с сайтом sdamgia.ru для получения заданий и проверки ответов.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Разработка базовой модели цифрового питомца с возможностью изменения состояния (голод, настроение и т.п.).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Создание игровой механики, связывающей правильные ответы с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«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кормлением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»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питомца и его развитием.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Программирование системы проверки ответов и получение обратной связи.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600" cy="70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Этапы</a:t>
            </a:r>
            <a:r>
              <a:rPr lang="en-US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ru-RU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1154880" y="2448000"/>
            <a:ext cx="8825040" cy="42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 startAt="5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Разработка интерфейса пользователя и элементов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None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геймификации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(очки, уровень, достижения). 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Font typeface="Wingdings 3" charset="2"/>
              <a:buAutoNum type="arabicPeriod" startAt="5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Тестирование приложения на разных устройствах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 участием целевой аудитории (учеников). 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1001"/>
              </a:spcBef>
              <a:spcAft>
                <a:spcPts val="201"/>
              </a:spcAft>
              <a:buClr>
                <a:srgbClr val="B31166"/>
              </a:buClr>
              <a:buSzPct val="80000"/>
              <a:buFont typeface="Century Gothic"/>
              <a:buAutoNum type="arabicPeriod" startAt="5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Доработка на основе отзывов.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429" name=""/>
          <p:cNvPicPr/>
          <p:nvPr/>
        </p:nvPicPr>
        <p:blipFill>
          <a:blip r:embed="rId1"/>
          <a:stretch/>
        </p:blipFill>
        <p:spPr>
          <a:xfrm>
            <a:off x="7310880" y="2340000"/>
            <a:ext cx="2048760" cy="443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"/>
          <p:cNvPicPr/>
          <p:nvPr/>
        </p:nvPicPr>
        <p:blipFill>
          <a:blip r:embed="rId2"/>
          <a:stretch/>
        </p:blipFill>
        <p:spPr>
          <a:xfrm>
            <a:off x="9540000" y="2352240"/>
            <a:ext cx="2048040" cy="443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Стек технологий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1154880" y="2606040"/>
            <a:ext cx="10073520" cy="376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7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Операционная система: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Windows 11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7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Среда программирования: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Android Studio Panda 4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7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Сторонние программы: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Capcut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Paint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net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7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Язык программирования: </a:t>
            </a: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Java 11 + Kotlin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433" name="Picture 2"/>
          <p:cNvPicPr/>
          <p:nvPr/>
        </p:nvPicPr>
        <p:blipFill>
          <a:blip r:embed="rId1"/>
          <a:srcRect l="27637" t="25400" r="27165" b="29121"/>
          <a:stretch/>
        </p:blipFill>
        <p:spPr>
          <a:xfrm>
            <a:off x="7464240" y="2678400"/>
            <a:ext cx="923760" cy="92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Picture 6"/>
          <p:cNvPicPr/>
          <p:nvPr/>
        </p:nvPicPr>
        <p:blipFill>
          <a:blip r:embed="rId2"/>
          <a:srcRect l="16842" t="25700" r="18058" b="24590"/>
          <a:stretch/>
        </p:blipFill>
        <p:spPr>
          <a:xfrm>
            <a:off x="7409880" y="4690800"/>
            <a:ext cx="1164960" cy="88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Picture 8"/>
          <p:cNvPicPr/>
          <p:nvPr/>
        </p:nvPicPr>
        <p:blipFill>
          <a:blip r:embed="rId3"/>
          <a:stretch/>
        </p:blipFill>
        <p:spPr>
          <a:xfrm>
            <a:off x="9267480" y="5471280"/>
            <a:ext cx="933120" cy="98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"/>
          <p:cNvPicPr/>
          <p:nvPr/>
        </p:nvPicPr>
        <p:blipFill>
          <a:blip r:embed="rId4"/>
          <a:stretch/>
        </p:blipFill>
        <p:spPr>
          <a:xfrm>
            <a:off x="8820000" y="3240000"/>
            <a:ext cx="1620000" cy="16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"/>
          <p:cNvPicPr/>
          <p:nvPr/>
        </p:nvPicPr>
        <p:blipFill>
          <a:blip r:embed="rId5"/>
          <a:stretch/>
        </p:blipFill>
        <p:spPr>
          <a:xfrm>
            <a:off x="3960000" y="5040000"/>
            <a:ext cx="1529640" cy="152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"/>
          <p:cNvPicPr/>
          <p:nvPr/>
        </p:nvPicPr>
        <p:blipFill>
          <a:blip r:embed="rId6"/>
          <a:stretch/>
        </p:blipFill>
        <p:spPr>
          <a:xfrm>
            <a:off x="5658120" y="5448240"/>
            <a:ext cx="893880" cy="893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Стек технологий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1154880" y="2434680"/>
            <a:ext cx="10545120" cy="408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10000"/>
              </a:lnSpc>
              <a:buClr>
                <a:srgbClr val="B31166"/>
              </a:buClr>
              <a:buSzPct val="80000"/>
              <a:buFont typeface="Symbol" charset="2"/>
              <a:buChar char="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Библиотеки: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OkHttp 3 — HTTP-запросы к sdamgia.ru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Gson — JSON-парсинг ответов API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Jsoup — HTML-парсинг страниц задач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Jetpack Compose — пользовательский интерфейс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Activity Compose — запуск Compose-UI через setContent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Lifecycle ViewModel Compose — внедрение ViewModel в Compose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10000"/>
              </a:lnSpc>
              <a:spcAft>
                <a:spcPts val="198"/>
              </a:spcAft>
              <a:buClr>
                <a:srgbClr val="B31166"/>
              </a:buClr>
              <a:buSzPct val="80000"/>
              <a:buFont typeface="Courier New"/>
              <a:buChar char="o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Navigation Compose — навигация между экранами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Стек технологий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1154880" y="2434680"/>
            <a:ext cx="10545120" cy="408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0" algn="just" defTabSz="457200">
              <a:lnSpc>
                <a:spcPct val="110000"/>
              </a:lnSpc>
              <a:buNone/>
              <a:tabLst>
                <a:tab pos="408240" algn="l"/>
              </a:tabLst>
            </a:pPr>
            <a:r>
              <a:rPr lang="ru-RU" sz="2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Почему именно они?</a:t>
            </a:r>
            <a:endParaRPr lang="en-US" sz="2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10000"/>
              </a:lnSpc>
              <a:buClr>
                <a:srgbClr val="B31166"/>
              </a:buClr>
              <a:buSzPct val="80000"/>
              <a:buFont typeface="Symbol" charset="2"/>
              <a:buChar char="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OkHttp + Gson + Jsoup — лёгкие, без фреймворков (данных мало — JSON с API + парсинг HTML).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10000"/>
              </a:lnSpc>
              <a:buClr>
                <a:srgbClr val="B31166"/>
              </a:buClr>
              <a:buSzPct val="80000"/>
              <a:buFont typeface="Symbol" charset="2"/>
              <a:buChar char=""/>
              <a:tabLst>
                <a:tab pos="40824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Compose для UI — современнее XML, проще отображение условий задач и оверлея статистики. 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443" name=""/>
          <p:cNvPicPr/>
          <p:nvPr/>
        </p:nvPicPr>
        <p:blipFill>
          <a:blip r:embed="rId1"/>
          <a:stretch/>
        </p:blipFill>
        <p:spPr>
          <a:xfrm>
            <a:off x="720000" y="5103000"/>
            <a:ext cx="1800000" cy="11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4" name=""/>
          <p:cNvPicPr/>
          <p:nvPr/>
        </p:nvPicPr>
        <p:blipFill>
          <a:blip r:embed="rId2"/>
          <a:stretch/>
        </p:blipFill>
        <p:spPr>
          <a:xfrm>
            <a:off x="3108240" y="4509360"/>
            <a:ext cx="1787760" cy="53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5" name=""/>
          <p:cNvPicPr/>
          <p:nvPr/>
        </p:nvPicPr>
        <p:blipFill>
          <a:blip r:embed="rId3"/>
          <a:srcRect l="9449" t="0" r="10843" b="0"/>
          <a:stretch/>
        </p:blipFill>
        <p:spPr>
          <a:xfrm>
            <a:off x="5148000" y="4860000"/>
            <a:ext cx="2346120" cy="16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6" name=""/>
          <p:cNvPicPr/>
          <p:nvPr/>
        </p:nvPicPr>
        <p:blipFill>
          <a:blip r:embed="rId4"/>
          <a:stretch/>
        </p:blipFill>
        <p:spPr>
          <a:xfrm>
            <a:off x="8453880" y="4497120"/>
            <a:ext cx="2886120" cy="144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Стек технологий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1154880" y="2088720"/>
            <a:ext cx="10073520" cy="376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Нейро сети: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Courier New"/>
              <a:buChar char="o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Qwen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(улучшение изображений питомца)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Courier New"/>
              <a:buChar char="o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Suno (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создание фоновой музыки)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l" defTabSz="457200">
              <a:lnSpc>
                <a:spcPct val="120000"/>
              </a:lnSpc>
              <a:spcBef>
                <a:spcPts val="1001"/>
              </a:spcBef>
              <a:buClr>
                <a:srgbClr val="B31166"/>
              </a:buClr>
              <a:buSzPct val="80000"/>
              <a:buFont typeface="Symbol" charset="2"/>
              <a:buChar char="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Сторонние ресурсы: 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       freesound.org (звуки)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0" algn="l" defTabSz="457200">
              <a:lnSpc>
                <a:spcPct val="100000"/>
              </a:lnSpc>
              <a:buNone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      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  <a:hlinkClick r:id="rId1"/>
              </a:rPr>
              <a:t>www.myinstants.com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(звуки)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514600" lvl="5" indent="0" algn="l" defTabSz="457200">
              <a:spcBef>
                <a:spcPts val="283"/>
              </a:spcBef>
              <a:buNone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        math-oge.sdamgia.ru (задачи)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449" name="Рисунок 3"/>
          <p:cNvPicPr/>
          <p:nvPr/>
        </p:nvPicPr>
        <p:blipFill>
          <a:blip r:embed="rId2"/>
          <a:stretch/>
        </p:blipFill>
        <p:spPr>
          <a:xfrm>
            <a:off x="257400" y="4176000"/>
            <a:ext cx="4084200" cy="240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Рисунок 4"/>
          <p:cNvPicPr/>
          <p:nvPr/>
        </p:nvPicPr>
        <p:blipFill>
          <a:blip r:embed="rId3"/>
          <a:stretch/>
        </p:blipFill>
        <p:spPr>
          <a:xfrm>
            <a:off x="7923240" y="3096000"/>
            <a:ext cx="3969000" cy="346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UML диаграммы </a:t>
            </a:r>
            <a:r>
              <a:rPr lang="ru-RU" sz="2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www.plantuml.com</a:t>
            </a:r>
            <a:r>
              <a:rPr lang="ru-RU" sz="2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: диаграммы</a:t>
            </a:r>
            <a:br>
              <a:rPr sz="3600"/>
            </a:b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последовательности и классов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452" name=""/>
          <p:cNvPicPr/>
          <p:nvPr/>
        </p:nvPicPr>
        <p:blipFill>
          <a:blip r:embed="rId1"/>
          <a:srcRect l="0" t="3481" r="0" b="0"/>
          <a:stretch/>
        </p:blipFill>
        <p:spPr>
          <a:xfrm>
            <a:off x="540000" y="2340000"/>
            <a:ext cx="5040000" cy="43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"/>
          <p:cNvPicPr/>
          <p:nvPr/>
        </p:nvPicPr>
        <p:blipFill>
          <a:blip r:embed="rId2"/>
          <a:srcRect l="0" t="2568" r="0" b="0"/>
          <a:stretch/>
        </p:blipFill>
        <p:spPr>
          <a:xfrm>
            <a:off x="6300000" y="2340000"/>
            <a:ext cx="5103000" cy="45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Структура проекта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pic>
        <p:nvPicPr>
          <p:cNvPr id="455" name=""/>
          <p:cNvPicPr/>
          <p:nvPr/>
        </p:nvPicPr>
        <p:blipFill>
          <a:blip r:embed="rId1"/>
          <a:stretch/>
        </p:blipFill>
        <p:spPr>
          <a:xfrm>
            <a:off x="2397960" y="2282040"/>
            <a:ext cx="7214040" cy="452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154880" y="973800"/>
            <a:ext cx="8760960" cy="7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План развития проекта:</a:t>
            </a:r>
            <a:endParaRPr lang="en-US" sz="36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1154880" y="2376720"/>
            <a:ext cx="10073520" cy="376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Расширить количество товаров в магазине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Добавить таблицы лидеров (по уровню, по баллам)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Усовершенствовать анимацию персонажа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Расширить проект на другие предметы обучения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Сделать подготовку не только к ОГЭ, но и к ЕГЭ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-343080" algn="just" defTabSz="457200">
              <a:lnSpc>
                <a:spcPct val="120000"/>
              </a:lnSpc>
              <a:spcAft>
                <a:spcPts val="201"/>
              </a:spcAft>
              <a:buClr>
                <a:srgbClr val="B31166"/>
              </a:buClr>
              <a:buSzPct val="80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Монетизировать проект (платный пакет улучшений в магазине,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43080" indent="0" algn="just" defTabSz="457200">
              <a:lnSpc>
                <a:spcPct val="120000"/>
              </a:lnSpc>
              <a:spcAft>
                <a:spcPts val="201"/>
              </a:spcAft>
              <a:buNone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Calibri"/>
              </a:rPr>
              <a:t>рекламные интеграции)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154880" y="2099880"/>
            <a:ext cx="8825040" cy="267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400" b="0" u="none" strike="noStrike">
                <a:solidFill>
                  <a:schemeClr val="lt2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lang="ru-RU" sz="5400" b="0" u="none" strike="noStrike">
              <a:solidFill>
                <a:schemeClr val="lt2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Совет директоров">
  <a:themeElements>
    <a:clrScheme name="Совет директоров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24000"/>
              </a:schemeClr>
            </a:gs>
            <a:gs pos="100000">
              <a:schemeClr val="phClr">
                <a:shade val="76000"/>
                <a:lumMod val="5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овет директоров">
  <a:themeElements>
    <a:clrScheme name="Совет директоров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24000"/>
              </a:schemeClr>
            </a:gs>
            <a:gs pos="100000">
              <a:schemeClr val="phClr">
                <a:shade val="76000"/>
                <a:lumMod val="5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овет директоров">
  <a:themeElements>
    <a:clrScheme name="Совет директоров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8000"/>
                <a:lumMod val="124000"/>
              </a:schemeClr>
            </a:gs>
            <a:gs pos="100000">
              <a:schemeClr val="phClr">
                <a:shade val="76000"/>
                <a:lumMod val="5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478</TotalTime>
  <Application>LibreOffice/26.2.3.1$Windows_X86_64 LibreOffice_project/d444ea7836163cb762d1627df3bc33e112fa142a</Application>
  <AppVersion>15.0000</AppVersion>
  <Words>492</Words>
  <Paragraphs>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2025-11-20T13:23:52Z</dcterms:created>
  <dc:creator>Vladik Vladik</dc:creator>
  <dc:description/>
  <dc:language>ru-RU</dc:language>
  <cp:lastModifiedBy/>
  <dcterms:modified xsi:type="dcterms:W3CDTF">2026-05-27T23:06:14Z</dcterms:modified>
  <cp:revision>64</cp:revision>
  <dc:subject/>
  <dc:title>Тема проекта: Цифровой питомец для интерактивного обучения математике с использованием заданий с сайта «Решу ОГЭ»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9</vt:i4>
  </property>
</Properties>
</file>